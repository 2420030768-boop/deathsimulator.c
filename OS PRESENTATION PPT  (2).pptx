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6" r:id="rId5"/>
    <p:sldId id="260" r:id="rId6"/>
    <p:sldId id="257" r:id="rId7"/>
    <p:sldId id="321" r:id="rId8"/>
    <p:sldId id="322" r:id="rId9"/>
    <p:sldId id="328" r:id="rId10"/>
    <p:sldId id="329" r:id="rId11"/>
    <p:sldId id="324" r:id="rId12"/>
    <p:sldId id="277" r:id="rId13"/>
    <p:sldId id="320" r:id="rId14"/>
    <p:sldId id="327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D6B02-DB3E-4E80-805A-86639F7FF36E}" type="doc">
      <dgm:prSet loTypeId="urn:microsoft.com/office/officeart/2005/8/layout/cycle3" loCatId="cycl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B5343F-0E74-498B-BD17-A1C74F98DFB8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A5A8B927-7673-48B6-81F4-C18D3170853D}" type="parTrans" cxnId="{1B519F3F-FDB3-4300-9FFE-DED2A92E395D}">
      <dgm:prSet/>
      <dgm:spPr/>
      <dgm:t>
        <a:bodyPr/>
        <a:lstStyle/>
        <a:p>
          <a:endParaRPr lang="en-US"/>
        </a:p>
      </dgm:t>
    </dgm:pt>
    <dgm:pt modelId="{C92A5618-4DA3-440A-830D-96064ABF2589}" type="sibTrans" cxnId="{1B519F3F-FDB3-4300-9FFE-DED2A92E395D}">
      <dgm:prSet/>
      <dgm:spPr/>
      <dgm:t>
        <a:bodyPr/>
        <a:lstStyle/>
        <a:p>
          <a:endParaRPr lang="en-US"/>
        </a:p>
      </dgm:t>
    </dgm:pt>
    <dgm:pt modelId="{A177D668-B3E9-44C6-B6FB-450BB93B4EBC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073E443D-FE73-41DF-B796-326412B080A0}" type="parTrans" cxnId="{919C9639-32ED-4AE2-8015-C9A7BF71DC20}">
      <dgm:prSet/>
      <dgm:spPr/>
      <dgm:t>
        <a:bodyPr/>
        <a:lstStyle/>
        <a:p>
          <a:endParaRPr lang="en-US"/>
        </a:p>
      </dgm:t>
    </dgm:pt>
    <dgm:pt modelId="{5E67AE69-1470-4D89-9944-3FDB30E87689}" type="sibTrans" cxnId="{919C9639-32ED-4AE2-8015-C9A7BF71DC20}">
      <dgm:prSet/>
      <dgm:spPr/>
      <dgm:t>
        <a:bodyPr/>
        <a:lstStyle/>
        <a:p>
          <a:endParaRPr lang="en-US"/>
        </a:p>
      </dgm:t>
    </dgm:pt>
    <dgm:pt modelId="{89116A2C-A0EC-4510-B6DC-E2947D9459D7}">
      <dgm:prSet/>
      <dgm:spPr/>
      <dgm:t>
        <a:bodyPr/>
        <a:lstStyle/>
        <a:p>
          <a:r>
            <a:rPr lang="en-US" dirty="0"/>
            <a:t>Objectives with Justifications</a:t>
          </a:r>
        </a:p>
      </dgm:t>
    </dgm:pt>
    <dgm:pt modelId="{79E16DA3-7D63-40C2-AB64-757C399BF676}" type="parTrans" cxnId="{9814B26C-BF9D-42D5-BCE1-DBC586E5F398}">
      <dgm:prSet/>
      <dgm:spPr/>
      <dgm:t>
        <a:bodyPr/>
        <a:lstStyle/>
        <a:p>
          <a:endParaRPr lang="en-US"/>
        </a:p>
      </dgm:t>
    </dgm:pt>
    <dgm:pt modelId="{9A0F49FE-1DCF-4949-BBEF-A7737DB9CA66}" type="sibTrans" cxnId="{9814B26C-BF9D-42D5-BCE1-DBC586E5F398}">
      <dgm:prSet/>
      <dgm:spPr/>
      <dgm:t>
        <a:bodyPr/>
        <a:lstStyle/>
        <a:p>
          <a:endParaRPr lang="en-US"/>
        </a:p>
      </dgm:t>
    </dgm:pt>
    <dgm:pt modelId="{751D96F2-DE21-4339-8EBC-1412B73D7368}">
      <dgm:prSet/>
      <dgm:spPr/>
      <dgm:t>
        <a:bodyPr/>
        <a:lstStyle/>
        <a:p>
          <a:r>
            <a:rPr lang="en-US" dirty="0"/>
            <a:t>Implementation and Execution</a:t>
          </a:r>
        </a:p>
      </dgm:t>
    </dgm:pt>
    <dgm:pt modelId="{88BFF825-1D25-4E11-9BA0-67A56CDA794D}" type="parTrans" cxnId="{C43423CF-204D-4D25-9136-F5B9AFD5C896}">
      <dgm:prSet/>
      <dgm:spPr/>
      <dgm:t>
        <a:bodyPr/>
        <a:lstStyle/>
        <a:p>
          <a:endParaRPr lang="en-US"/>
        </a:p>
      </dgm:t>
    </dgm:pt>
    <dgm:pt modelId="{43DB6C13-924B-4125-A9D3-69D0002DED18}" type="sibTrans" cxnId="{C43423CF-204D-4D25-9136-F5B9AFD5C896}">
      <dgm:prSet/>
      <dgm:spPr/>
      <dgm:t>
        <a:bodyPr/>
        <a:lstStyle/>
        <a:p>
          <a:endParaRPr lang="en-US"/>
        </a:p>
      </dgm:t>
    </dgm:pt>
    <dgm:pt modelId="{EF6CA57A-82B1-47EE-9356-EE7D9217C683}">
      <dgm:prSet/>
      <dgm:spPr/>
      <dgm:t>
        <a:bodyPr/>
        <a:lstStyle/>
        <a:p>
          <a:r>
            <a:rPr lang="en-US"/>
            <a:t>Expected Outcomes of the Proposed Work</a:t>
          </a:r>
        </a:p>
      </dgm:t>
    </dgm:pt>
    <dgm:pt modelId="{04D4C370-272A-4008-8BC5-F29F8C423B30}" type="parTrans" cxnId="{54EF8C1D-0D60-4DA7-8806-2FDAA429236E}">
      <dgm:prSet/>
      <dgm:spPr/>
      <dgm:t>
        <a:bodyPr/>
        <a:lstStyle/>
        <a:p>
          <a:endParaRPr lang="en-US"/>
        </a:p>
      </dgm:t>
    </dgm:pt>
    <dgm:pt modelId="{94132A2A-2B75-46D2-9BCB-3F76ABEEDA85}" type="sibTrans" cxnId="{54EF8C1D-0D60-4DA7-8806-2FDAA429236E}">
      <dgm:prSet/>
      <dgm:spPr/>
      <dgm:t>
        <a:bodyPr/>
        <a:lstStyle/>
        <a:p>
          <a:endParaRPr lang="en-US"/>
        </a:p>
      </dgm:t>
    </dgm:pt>
    <dgm:pt modelId="{5AE124BD-9C87-47D7-98A9-324A19C81A3B}">
      <dgm:prSet/>
      <dgm:spPr/>
      <dgm:t>
        <a:bodyPr/>
        <a:lstStyle/>
        <a:p>
          <a:r>
            <a:rPr lang="en-US"/>
            <a:t>Conclusion </a:t>
          </a:r>
        </a:p>
      </dgm:t>
    </dgm:pt>
    <dgm:pt modelId="{76EB1892-15AB-4829-9124-E832E41CBD7E}" type="parTrans" cxnId="{0E6FCF54-CA41-4295-BA31-05B024179908}">
      <dgm:prSet/>
      <dgm:spPr/>
      <dgm:t>
        <a:bodyPr/>
        <a:lstStyle/>
        <a:p>
          <a:endParaRPr lang="en-US"/>
        </a:p>
      </dgm:t>
    </dgm:pt>
    <dgm:pt modelId="{23EA9F6D-DABC-49EA-9A7E-9AF7E14892DD}" type="sibTrans" cxnId="{0E6FCF54-CA41-4295-BA31-05B024179908}">
      <dgm:prSet/>
      <dgm:spPr/>
      <dgm:t>
        <a:bodyPr/>
        <a:lstStyle/>
        <a:p>
          <a:endParaRPr lang="en-US"/>
        </a:p>
      </dgm:t>
    </dgm:pt>
    <dgm:pt modelId="{3389B052-AD90-4EF3-B275-5BE15FE56C43}">
      <dgm:prSet/>
      <dgm:spPr/>
      <dgm:t>
        <a:bodyPr/>
        <a:lstStyle/>
        <a:p>
          <a:r>
            <a:rPr lang="en-US"/>
            <a:t>References</a:t>
          </a:r>
        </a:p>
      </dgm:t>
    </dgm:pt>
    <dgm:pt modelId="{4A785191-BF97-44AA-8F87-69D1932BC88E}" type="parTrans" cxnId="{0C989875-8A06-435F-81B8-38F55E2A44BF}">
      <dgm:prSet/>
      <dgm:spPr/>
      <dgm:t>
        <a:bodyPr/>
        <a:lstStyle/>
        <a:p>
          <a:endParaRPr lang="en-US"/>
        </a:p>
      </dgm:t>
    </dgm:pt>
    <dgm:pt modelId="{01CB86CB-DB33-44F8-BE7A-FD010D1E26C8}" type="sibTrans" cxnId="{0C989875-8A06-435F-81B8-38F55E2A44BF}">
      <dgm:prSet/>
      <dgm:spPr/>
      <dgm:t>
        <a:bodyPr/>
        <a:lstStyle/>
        <a:p>
          <a:endParaRPr lang="en-US"/>
        </a:p>
      </dgm:t>
    </dgm:pt>
    <dgm:pt modelId="{0EE817F9-5521-4D7E-BAA2-3A1478F1AFD1}" type="pres">
      <dgm:prSet presAssocID="{A5CD6B02-DB3E-4E80-805A-86639F7FF36E}" presName="Name0" presStyleCnt="0">
        <dgm:presLayoutVars>
          <dgm:dir/>
          <dgm:resizeHandles val="exact"/>
        </dgm:presLayoutVars>
      </dgm:prSet>
      <dgm:spPr/>
    </dgm:pt>
    <dgm:pt modelId="{CADA094C-4472-4D5E-A593-152F79D2D2E9}" type="pres">
      <dgm:prSet presAssocID="{A5CD6B02-DB3E-4E80-805A-86639F7FF36E}" presName="cycle" presStyleCnt="0"/>
      <dgm:spPr/>
    </dgm:pt>
    <dgm:pt modelId="{4617DAE4-65A0-403B-BAEA-6D6581DFCA42}" type="pres">
      <dgm:prSet presAssocID="{6DB5343F-0E74-498B-BD17-A1C74F98DFB8}" presName="nodeFirstNode" presStyleLbl="node1" presStyleIdx="0" presStyleCnt="7">
        <dgm:presLayoutVars>
          <dgm:bulletEnabled val="1"/>
        </dgm:presLayoutVars>
      </dgm:prSet>
      <dgm:spPr/>
    </dgm:pt>
    <dgm:pt modelId="{ACDAEDC1-D679-4914-B60B-BA8F4AFB51DD}" type="pres">
      <dgm:prSet presAssocID="{C92A5618-4DA3-440A-830D-96064ABF2589}" presName="sibTransFirstNode" presStyleLbl="bgShp" presStyleIdx="0" presStyleCnt="1"/>
      <dgm:spPr/>
    </dgm:pt>
    <dgm:pt modelId="{1FF5198C-5CB6-442A-A90B-DD0AC5D73AAD}" type="pres">
      <dgm:prSet presAssocID="{A177D668-B3E9-44C6-B6FB-450BB93B4EBC}" presName="nodeFollowingNodes" presStyleLbl="node1" presStyleIdx="1" presStyleCnt="7">
        <dgm:presLayoutVars>
          <dgm:bulletEnabled val="1"/>
        </dgm:presLayoutVars>
      </dgm:prSet>
      <dgm:spPr/>
    </dgm:pt>
    <dgm:pt modelId="{E89BFCC4-EB5B-456E-91F1-0198FD1CE94D}" type="pres">
      <dgm:prSet presAssocID="{89116A2C-A0EC-4510-B6DC-E2947D9459D7}" presName="nodeFollowingNodes" presStyleLbl="node1" presStyleIdx="2" presStyleCnt="7">
        <dgm:presLayoutVars>
          <dgm:bulletEnabled val="1"/>
        </dgm:presLayoutVars>
      </dgm:prSet>
      <dgm:spPr/>
    </dgm:pt>
    <dgm:pt modelId="{A29836D4-8338-4D13-BC5E-B0782EAB3100}" type="pres">
      <dgm:prSet presAssocID="{751D96F2-DE21-4339-8EBC-1412B73D7368}" presName="nodeFollowingNodes" presStyleLbl="node1" presStyleIdx="3" presStyleCnt="7">
        <dgm:presLayoutVars>
          <dgm:bulletEnabled val="1"/>
        </dgm:presLayoutVars>
      </dgm:prSet>
      <dgm:spPr/>
    </dgm:pt>
    <dgm:pt modelId="{CAFC7CE3-FE67-4B5D-9B00-1A06B5057978}" type="pres">
      <dgm:prSet presAssocID="{EF6CA57A-82B1-47EE-9356-EE7D9217C683}" presName="nodeFollowingNodes" presStyleLbl="node1" presStyleIdx="4" presStyleCnt="7">
        <dgm:presLayoutVars>
          <dgm:bulletEnabled val="1"/>
        </dgm:presLayoutVars>
      </dgm:prSet>
      <dgm:spPr/>
    </dgm:pt>
    <dgm:pt modelId="{1E2F1F88-8761-48ED-A5BA-B4FDF78DB0E1}" type="pres">
      <dgm:prSet presAssocID="{5AE124BD-9C87-47D7-98A9-324A19C81A3B}" presName="nodeFollowingNodes" presStyleLbl="node1" presStyleIdx="5" presStyleCnt="7">
        <dgm:presLayoutVars>
          <dgm:bulletEnabled val="1"/>
        </dgm:presLayoutVars>
      </dgm:prSet>
      <dgm:spPr/>
    </dgm:pt>
    <dgm:pt modelId="{B93868B6-7C52-4410-8E19-56E3A4075B73}" type="pres">
      <dgm:prSet presAssocID="{3389B052-AD90-4EF3-B275-5BE15FE56C43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00E02E04-6EBF-486E-9C77-2DEAA9158EF0}" type="presOf" srcId="{751D96F2-DE21-4339-8EBC-1412B73D7368}" destId="{A29836D4-8338-4D13-BC5E-B0782EAB3100}" srcOrd="0" destOrd="0" presId="urn:microsoft.com/office/officeart/2005/8/layout/cycle3"/>
    <dgm:cxn modelId="{54EF8C1D-0D60-4DA7-8806-2FDAA429236E}" srcId="{A5CD6B02-DB3E-4E80-805A-86639F7FF36E}" destId="{EF6CA57A-82B1-47EE-9356-EE7D9217C683}" srcOrd="4" destOrd="0" parTransId="{04D4C370-272A-4008-8BC5-F29F8C423B30}" sibTransId="{94132A2A-2B75-46D2-9BCB-3F76ABEEDA85}"/>
    <dgm:cxn modelId="{6F46AD21-5932-4838-8A43-6E1946C4B524}" type="presOf" srcId="{6DB5343F-0E74-498B-BD17-A1C74F98DFB8}" destId="{4617DAE4-65A0-403B-BAEA-6D6581DFCA42}" srcOrd="0" destOrd="0" presId="urn:microsoft.com/office/officeart/2005/8/layout/cycle3"/>
    <dgm:cxn modelId="{919C9639-32ED-4AE2-8015-C9A7BF71DC20}" srcId="{A5CD6B02-DB3E-4E80-805A-86639F7FF36E}" destId="{A177D668-B3E9-44C6-B6FB-450BB93B4EBC}" srcOrd="1" destOrd="0" parTransId="{073E443D-FE73-41DF-B796-326412B080A0}" sibTransId="{5E67AE69-1470-4D89-9944-3FDB30E87689}"/>
    <dgm:cxn modelId="{1B519F3F-FDB3-4300-9FFE-DED2A92E395D}" srcId="{A5CD6B02-DB3E-4E80-805A-86639F7FF36E}" destId="{6DB5343F-0E74-498B-BD17-A1C74F98DFB8}" srcOrd="0" destOrd="0" parTransId="{A5A8B927-7673-48B6-81F4-C18D3170853D}" sibTransId="{C92A5618-4DA3-440A-830D-96064ABF2589}"/>
    <dgm:cxn modelId="{9814B26C-BF9D-42D5-BCE1-DBC586E5F398}" srcId="{A5CD6B02-DB3E-4E80-805A-86639F7FF36E}" destId="{89116A2C-A0EC-4510-B6DC-E2947D9459D7}" srcOrd="2" destOrd="0" parTransId="{79E16DA3-7D63-40C2-AB64-757C399BF676}" sibTransId="{9A0F49FE-1DCF-4949-BBEF-A7737DB9CA66}"/>
    <dgm:cxn modelId="{08C05A73-DDAB-47B9-873F-014312BF1B6E}" type="presOf" srcId="{EF6CA57A-82B1-47EE-9356-EE7D9217C683}" destId="{CAFC7CE3-FE67-4B5D-9B00-1A06B5057978}" srcOrd="0" destOrd="0" presId="urn:microsoft.com/office/officeart/2005/8/layout/cycle3"/>
    <dgm:cxn modelId="{0E6FCF54-CA41-4295-BA31-05B024179908}" srcId="{A5CD6B02-DB3E-4E80-805A-86639F7FF36E}" destId="{5AE124BD-9C87-47D7-98A9-324A19C81A3B}" srcOrd="5" destOrd="0" parTransId="{76EB1892-15AB-4829-9124-E832E41CBD7E}" sibTransId="{23EA9F6D-DABC-49EA-9A7E-9AF7E14892DD}"/>
    <dgm:cxn modelId="{0C989875-8A06-435F-81B8-38F55E2A44BF}" srcId="{A5CD6B02-DB3E-4E80-805A-86639F7FF36E}" destId="{3389B052-AD90-4EF3-B275-5BE15FE56C43}" srcOrd="6" destOrd="0" parTransId="{4A785191-BF97-44AA-8F87-69D1932BC88E}" sibTransId="{01CB86CB-DB33-44F8-BE7A-FD010D1E26C8}"/>
    <dgm:cxn modelId="{AC4F9E8F-8325-4A3F-AD3C-8C108FC48B8C}" type="presOf" srcId="{A177D668-B3E9-44C6-B6FB-450BB93B4EBC}" destId="{1FF5198C-5CB6-442A-A90B-DD0AC5D73AAD}" srcOrd="0" destOrd="0" presId="urn:microsoft.com/office/officeart/2005/8/layout/cycle3"/>
    <dgm:cxn modelId="{1480B095-FAB1-46CE-B516-0FD04D1B89BE}" type="presOf" srcId="{3389B052-AD90-4EF3-B275-5BE15FE56C43}" destId="{B93868B6-7C52-4410-8E19-56E3A4075B73}" srcOrd="0" destOrd="0" presId="urn:microsoft.com/office/officeart/2005/8/layout/cycle3"/>
    <dgm:cxn modelId="{3FB0EC98-13B8-4949-AD3D-EF987F010672}" type="presOf" srcId="{5AE124BD-9C87-47D7-98A9-324A19C81A3B}" destId="{1E2F1F88-8761-48ED-A5BA-B4FDF78DB0E1}" srcOrd="0" destOrd="0" presId="urn:microsoft.com/office/officeart/2005/8/layout/cycle3"/>
    <dgm:cxn modelId="{3ABABEA9-3B23-46D0-816C-4525CCE63372}" type="presOf" srcId="{C92A5618-4DA3-440A-830D-96064ABF2589}" destId="{ACDAEDC1-D679-4914-B60B-BA8F4AFB51DD}" srcOrd="0" destOrd="0" presId="urn:microsoft.com/office/officeart/2005/8/layout/cycle3"/>
    <dgm:cxn modelId="{AC29A8C9-2424-4D6B-9485-B3F7A6D7F188}" type="presOf" srcId="{89116A2C-A0EC-4510-B6DC-E2947D9459D7}" destId="{E89BFCC4-EB5B-456E-91F1-0198FD1CE94D}" srcOrd="0" destOrd="0" presId="urn:microsoft.com/office/officeart/2005/8/layout/cycle3"/>
    <dgm:cxn modelId="{C43423CF-204D-4D25-9136-F5B9AFD5C896}" srcId="{A5CD6B02-DB3E-4E80-805A-86639F7FF36E}" destId="{751D96F2-DE21-4339-8EBC-1412B73D7368}" srcOrd="3" destOrd="0" parTransId="{88BFF825-1D25-4E11-9BA0-67A56CDA794D}" sibTransId="{43DB6C13-924B-4125-A9D3-69D0002DED18}"/>
    <dgm:cxn modelId="{E25F91E6-C082-4A5C-8079-027C71DB13ED}" type="presOf" srcId="{A5CD6B02-DB3E-4E80-805A-86639F7FF36E}" destId="{0EE817F9-5521-4D7E-BAA2-3A1478F1AFD1}" srcOrd="0" destOrd="0" presId="urn:microsoft.com/office/officeart/2005/8/layout/cycle3"/>
    <dgm:cxn modelId="{50B9EF38-BA02-4248-B91D-A54B443F4469}" type="presParOf" srcId="{0EE817F9-5521-4D7E-BAA2-3A1478F1AFD1}" destId="{CADA094C-4472-4D5E-A593-152F79D2D2E9}" srcOrd="0" destOrd="0" presId="urn:microsoft.com/office/officeart/2005/8/layout/cycle3"/>
    <dgm:cxn modelId="{908F1A7B-1198-4494-AA6F-E4AC6FE96AAB}" type="presParOf" srcId="{CADA094C-4472-4D5E-A593-152F79D2D2E9}" destId="{4617DAE4-65A0-403B-BAEA-6D6581DFCA42}" srcOrd="0" destOrd="0" presId="urn:microsoft.com/office/officeart/2005/8/layout/cycle3"/>
    <dgm:cxn modelId="{964A3EDF-909C-4945-99FA-9AEECB044415}" type="presParOf" srcId="{CADA094C-4472-4D5E-A593-152F79D2D2E9}" destId="{ACDAEDC1-D679-4914-B60B-BA8F4AFB51DD}" srcOrd="1" destOrd="0" presId="urn:microsoft.com/office/officeart/2005/8/layout/cycle3"/>
    <dgm:cxn modelId="{CE82AB50-70E5-4A3A-9339-F33163D13EB9}" type="presParOf" srcId="{CADA094C-4472-4D5E-A593-152F79D2D2E9}" destId="{1FF5198C-5CB6-442A-A90B-DD0AC5D73AAD}" srcOrd="2" destOrd="0" presId="urn:microsoft.com/office/officeart/2005/8/layout/cycle3"/>
    <dgm:cxn modelId="{EA36CE61-C1C0-4324-B2D2-6C63EF4E4220}" type="presParOf" srcId="{CADA094C-4472-4D5E-A593-152F79D2D2E9}" destId="{E89BFCC4-EB5B-456E-91F1-0198FD1CE94D}" srcOrd="3" destOrd="0" presId="urn:microsoft.com/office/officeart/2005/8/layout/cycle3"/>
    <dgm:cxn modelId="{BB3BB027-A6D4-4F81-9545-3E47F6070B32}" type="presParOf" srcId="{CADA094C-4472-4D5E-A593-152F79D2D2E9}" destId="{A29836D4-8338-4D13-BC5E-B0782EAB3100}" srcOrd="4" destOrd="0" presId="urn:microsoft.com/office/officeart/2005/8/layout/cycle3"/>
    <dgm:cxn modelId="{CFEFE481-4D89-4504-9FFF-DD3893B5F146}" type="presParOf" srcId="{CADA094C-4472-4D5E-A593-152F79D2D2E9}" destId="{CAFC7CE3-FE67-4B5D-9B00-1A06B5057978}" srcOrd="5" destOrd="0" presId="urn:microsoft.com/office/officeart/2005/8/layout/cycle3"/>
    <dgm:cxn modelId="{52F9C03A-F80F-476B-8B88-F10FEEA8DF4F}" type="presParOf" srcId="{CADA094C-4472-4D5E-A593-152F79D2D2E9}" destId="{1E2F1F88-8761-48ED-A5BA-B4FDF78DB0E1}" srcOrd="6" destOrd="0" presId="urn:microsoft.com/office/officeart/2005/8/layout/cycle3"/>
    <dgm:cxn modelId="{5B153AF3-4942-477E-AB6D-B0A498E9B008}" type="presParOf" srcId="{CADA094C-4472-4D5E-A593-152F79D2D2E9}" destId="{B93868B6-7C52-4410-8E19-56E3A4075B73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AEDC1-D679-4914-B60B-BA8F4AFB51DD}">
      <dsp:nvSpPr>
        <dsp:cNvPr id="0" name=""/>
        <dsp:cNvSpPr/>
      </dsp:nvSpPr>
      <dsp:spPr>
        <a:xfrm>
          <a:off x="1694610" y="-30029"/>
          <a:ext cx="4497478" cy="4497478"/>
        </a:xfrm>
        <a:prstGeom prst="circularArrow">
          <a:avLst>
            <a:gd name="adj1" fmla="val 5544"/>
            <a:gd name="adj2" fmla="val 330680"/>
            <a:gd name="adj3" fmla="val 14506464"/>
            <a:gd name="adj4" fmla="val 16955560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617DAE4-65A0-403B-BAEA-6D6581DFCA42}">
      <dsp:nvSpPr>
        <dsp:cNvPr id="0" name=""/>
        <dsp:cNvSpPr/>
      </dsp:nvSpPr>
      <dsp:spPr>
        <a:xfrm>
          <a:off x="3238630" y="373"/>
          <a:ext cx="1409439" cy="70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Introduction</a:t>
          </a:r>
        </a:p>
      </dsp:txBody>
      <dsp:txXfrm>
        <a:off x="3273032" y="34775"/>
        <a:ext cx="1340635" cy="635915"/>
      </dsp:txXfrm>
    </dsp:sp>
    <dsp:sp modelId="{1FF5198C-5CB6-442A-A90B-DD0AC5D73AAD}">
      <dsp:nvSpPr>
        <dsp:cNvPr id="0" name=""/>
        <dsp:cNvSpPr/>
      </dsp:nvSpPr>
      <dsp:spPr>
        <a:xfrm>
          <a:off x="4738105" y="722483"/>
          <a:ext cx="1409439" cy="70471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Problem Statement</a:t>
          </a:r>
        </a:p>
      </dsp:txBody>
      <dsp:txXfrm>
        <a:off x="4772507" y="756885"/>
        <a:ext cx="1340635" cy="635915"/>
      </dsp:txXfrm>
    </dsp:sp>
    <dsp:sp modelId="{E89BFCC4-EB5B-456E-91F1-0198FD1CE94D}">
      <dsp:nvSpPr>
        <dsp:cNvPr id="0" name=""/>
        <dsp:cNvSpPr/>
      </dsp:nvSpPr>
      <dsp:spPr>
        <a:xfrm>
          <a:off x="5108445" y="2345048"/>
          <a:ext cx="1409439" cy="70471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Objectives with Justifications</a:t>
          </a:r>
        </a:p>
      </dsp:txBody>
      <dsp:txXfrm>
        <a:off x="5142847" y="2379450"/>
        <a:ext cx="1340635" cy="635915"/>
      </dsp:txXfrm>
    </dsp:sp>
    <dsp:sp modelId="{A29836D4-8338-4D13-BC5E-B0782EAB3100}">
      <dsp:nvSpPr>
        <dsp:cNvPr id="0" name=""/>
        <dsp:cNvSpPr/>
      </dsp:nvSpPr>
      <dsp:spPr>
        <a:xfrm>
          <a:off x="4070776" y="3646244"/>
          <a:ext cx="1409439" cy="70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Implementation and Execution</a:t>
          </a:r>
        </a:p>
      </dsp:txBody>
      <dsp:txXfrm>
        <a:off x="4105178" y="3680646"/>
        <a:ext cx="1340635" cy="635915"/>
      </dsp:txXfrm>
    </dsp:sp>
    <dsp:sp modelId="{CAFC7CE3-FE67-4B5D-9B00-1A06B5057978}">
      <dsp:nvSpPr>
        <dsp:cNvPr id="0" name=""/>
        <dsp:cNvSpPr/>
      </dsp:nvSpPr>
      <dsp:spPr>
        <a:xfrm>
          <a:off x="2406483" y="3646244"/>
          <a:ext cx="1409439" cy="70471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Expected Outcomes of the Proposed Work</a:t>
          </a:r>
        </a:p>
      </dsp:txBody>
      <dsp:txXfrm>
        <a:off x="2440885" y="3680646"/>
        <a:ext cx="1340635" cy="635915"/>
      </dsp:txXfrm>
    </dsp:sp>
    <dsp:sp modelId="{1E2F1F88-8761-48ED-A5BA-B4FDF78DB0E1}">
      <dsp:nvSpPr>
        <dsp:cNvPr id="0" name=""/>
        <dsp:cNvSpPr/>
      </dsp:nvSpPr>
      <dsp:spPr>
        <a:xfrm>
          <a:off x="1368814" y="2345048"/>
          <a:ext cx="1409439" cy="70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Conclusion </a:t>
          </a:r>
        </a:p>
      </dsp:txBody>
      <dsp:txXfrm>
        <a:off x="1403216" y="2379450"/>
        <a:ext cx="1340635" cy="635915"/>
      </dsp:txXfrm>
    </dsp:sp>
    <dsp:sp modelId="{B93868B6-7C52-4410-8E19-56E3A4075B73}">
      <dsp:nvSpPr>
        <dsp:cNvPr id="0" name=""/>
        <dsp:cNvSpPr/>
      </dsp:nvSpPr>
      <dsp:spPr>
        <a:xfrm>
          <a:off x="1739154" y="722483"/>
          <a:ext cx="1409439" cy="70471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References</a:t>
          </a:r>
        </a:p>
      </dsp:txBody>
      <dsp:txXfrm>
        <a:off x="1773556" y="756885"/>
        <a:ext cx="1340635" cy="6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3:15:03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961 494 24575,'-106'-1'0,"-173"5"0,224 0 0,-1 2 0,2 3 0,-55 16 0,49-7 0,28-7 0,0-2 0,0-1 0,-1-1 0,0-2 0,-47 2 0,716-25 0,-421 8 0,-155 10 0,-40 1 0,0-1 0,1-1 0,-1-1 0,28-5 0,-46 6 0,0 1 0,0-1 0,0 0 0,0 1 0,0-1 0,0 0 0,0 0 0,-1 0 0,1 0 0,0-1 0,-1 1 0,1 0 0,1-3 0,-2 3 0,-1 1 0,1-1 0,-1 0 0,0 0 0,1 1 0,-1-1 0,0 0 0,0 0 0,0 0 0,0 1 0,1-1 0,-1 0 0,0 0 0,0 0 0,0 1 0,-1-1 0,1 0 0,0 0 0,0 1 0,0-1 0,-1 0 0,1 0 0,-1-1 0,-1 0 0,1-1 0,-1 1 0,0 0 0,-1 0 0,1 0 0,0 0 0,-1 0 0,1 0 0,-1 0 0,1 1 0,-1-1 0,0 1 0,0 0 0,0 0 0,-4-2 0,-52-9 0,-1 3 0,-82-4 0,61 7 0,79 6 0,0 0 0,0 0 0,0 0 0,0 0 0,0-1 0,0 1 0,0-1 0,0 0 0,1 1 0,-1-1 0,0 0 0,0 0 0,1 0 0,-1 0 0,0-1 0,1 1 0,-1 0 0,1-1 0,-2-1 0,2 2 0,1 0 0,0 1 0,0-1 0,0 1 0,-1-1 0,1 0 0,0 1 0,0-1 0,0 0 0,0 1 0,0-1 0,0 0 0,0 1 0,0-1 0,0 0 0,1 1 0,-1-1 0,0 1 0,0-1 0,0 0 0,1 1 0,-1-1 0,1-1 0,1 1 0,-1-1 0,0 1 0,1-1 0,-1 1 0,0 0 0,1 0 0,0 0 0,-1 0 0,4-2 0,33-14 0,62-18 0,-2 1 0,-91 31 0,0-1 0,0 0 0,0 0 0,-1 0 0,1-1 0,-1 1 0,-1-2 0,1 1 0,-1-1 0,1 1 0,-2-1 0,1-1 0,-1 1 0,7-14 0,-6 10 0,-1 0 0,-1 0 0,0 0 0,0-1 0,-1 1 0,0-1 0,-1 1 0,0-1 0,-1 0 0,-1-13 0,1 19 0,-2 0 0,1 1 0,0-1 0,-1 1 0,0 0 0,0 0 0,0-1 0,-1 1 0,1 0 0,-1 1 0,0-1 0,0 0 0,0 1 0,-1 0 0,-4-5 0,2 4 0,1 0 0,-1 0 0,0 0 0,0 0 0,-1 1 0,1 0 0,-1 0 0,1 1 0,-10-3 0,15 5 0,0 0 0,0 0 0,0-1 0,0 1 0,0 0 0,1 0 0,-1 0 0,0 0 0,0 0 0,0 0 0,0 0 0,0 0 0,1 1 0,-1-1 0,0 0 0,0 0 0,0 1 0,0-1 0,1 0 0,-2 2 0,2-2 0,-1 1 0,1-1 0,0 1 0,0-1 0,0 1 0,0-1 0,0 1 0,-1-1 0,1 1 0,0-1 0,0 1 0,0 0 0,1-1 0,-1 1 0,0-1 0,0 1 0,0-1 0,0 1 0,0-1 0,1 1 0,-1-1 0,0 1 0,1 0 0,22 29 0,8-6 0,-15-11 0,27 26 0,-40-36 0,0 0 0,-1 0 0,1 1 0,-1-1 0,0 0 0,1 1 0,-2-1 0,1 1 0,0 0 0,-1 0 0,0 0 0,0 0 0,0 0 0,0 0 0,0 5 0,-1-7 0,-1 1 0,1-1 0,-1 0 0,1 0 0,-1 1 0,0-1 0,0 0 0,0 0 0,0 0 0,0 0 0,-1 0 0,1 0 0,-1 0 0,1 0 0,-1-1 0,1 1 0,-1-1 0,0 1 0,0-1 0,0 1 0,0-1 0,-3 1 0,-6 4 0,0-2 0,0 1 0,-13 2 0,15-4 0,-63 16 0,47-14 0,0 2 0,1 0 0,-1 2 0,-40 20 0,64-29 0,0 1 0,1-1 0,-1 0 0,0 1 0,0-1 0,1 1 0,-1-1 0,0 1 0,1-1 0,-1 1 0,0-1 0,1 1 0,-1 0 0,1-1 0,-1 1 0,1 0 0,-1-1 0,1 1 0,0 0 0,-1 1 0,13 2 0,28-9 0,46-22 0,-19 4 0,292-109 0,-296 107 0,-38 15 0,-7 3 0,0-1 0,0 0 0,19-13 0,-26 8 0,-10 13 0,-1 0 0,0-1 0,0 1 0,0 0 0,0-1 0,0 1 0,0 0 0,0-1 0,-1 1 0,1 0 0,0-1 0,0 1 0,0 0 0,0 0 0,0-1 0,0 1 0,-1 0 0,1-1 0,0 1 0,0 0 0,0 0 0,-1-1 0,1 1 0,0 0 0,0 0 0,-1 0 0,1-1 0,-1 1 0,-2-1 0,1 0 0,-1 0 0,0 0 0,0 0 0,0 0 0,0 1 0,0 0 0,0-1 0,-3 1 0,-17 1 0,0 1 0,0 1 0,1 1 0,-24 8 0,-93 33 0,82-25 0,-25 9 0,-52 17 0,255-71 0,-127 23 0,-31-5 0,37 7 0,0 0 0,-1-1 0,1 1 0,-1 0 0,1 0 0,-1 0 0,1-1 0,0 1 0,-1 0 0,1-1 0,0 1 0,-1 0 0,1-1 0,0 1 0,0 0 0,-1-1 0,1 1 0,0-1 0,0 1 0,-1-1 0,1 1 0,0 0 0,0-1 0,0 1 0,0-1 0,0 1 0,0-1 0,0-1 0,1 1 0,-1 0 0,1 0 0,0 0 0,-1-1 0,1 1 0,0 0 0,0 0 0,0 0 0,-1 0 0,1 0 0,0 0 0,0 1 0,1-1 0,0-1 0,14-10 0,-6 6 0,-1-1 0,0 0 0,-1 0 0,13-14 0,-10-2 0,-10 21 0,0 0 0,-1 0 0,1-1 0,0 1 0,0 0 0,1 0 0,-1 0 0,0 0 0,1 0 0,-1 1 0,1-1 0,2-2 0,14-12 0,-43 26 0,14-4 0,-60 21 0,71-27 0,0 0 0,0 0 0,0 0 0,0 0 0,-1 0 0,1 0 0,0 0 0,0 0 0,0 0 0,0 0 0,0 0 0,-1 0 0,1 0 0,0 0 0,0 0 0,0 0 0,0 0 0,-1 0 0,1 1 0,0-1 0,0 0 0,0 0 0,0 0 0,0 0 0,0 0 0,-1 0 0,1 0 0,0 0 0,0 1 0,0-1 0,0 0 0,0 0 0,0 0 0,0 0 0,0 0 0,0 0 0,0 1 0,-1-1 0,1 0 0,0 0 0,0 0 0,0 0 0,0 1 0,0-1 0,0 0 0,0 0 0,0 0 0,0 0 0,0 1 0,0-1 0,1 0 0,-1 0 0,0 0 0,0 0 0,0 0 0,0 1 0,0-1 0,0 0 0,0 0 0,14 3 0,20-3 0,-20 0 0,175-10 0,-164 7 0,0-2 0,-1 0 0,0-1 0,0-2 0,36-16 0,-59 24 0,0 0 0,0-1 0,0 1 0,0-1 0,1 1 0,-1-1 0,0 0 0,0 1 0,0-1 0,0 0 0,-1 0 0,1 1 0,0-1 0,0 0 0,0 0 0,-1 0 0,2-2 0,-2 2 0,0 1 0,-1-1 0,1 1 0,0-1 0,-1 1 0,1-1 0,-1 1 0,1-1 0,0 1 0,-1 0 0,1-1 0,-1 1 0,1 0 0,-1 0 0,1-1 0,-1 1 0,0 0 0,1 0 0,-1 0 0,1 0 0,-1-1 0,1 1 0,-1 0 0,0 0 0,0 0 0,-52-2 0,48 2 0,-11 1 0,0 0 0,0 1 0,0 1 0,0 0 0,1 1 0,-1 0 0,1 2 0,0 0 0,1 0 0,-23 14 0,-6 0-1365,23-14-5461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3:15:29.0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3055 0 24575,'-2'28'0,"-1"-1"0,-1-1 0,-15 50 0,5-24 0,6-19 0,-2 0 0,-1-1 0,-2 0 0,-1-1 0,-1 0 0,-20 28 0,29-50 0,-10 17 0,-30 35 0,39-53 0,0-1 0,0 0 0,-1 0 0,0-1 0,0 0 0,-1 0 0,0-1 0,-14 7 0,-48 26 0,58-30 0,1 0 0,-1-1 0,-1-1 0,1 0 0,-1 0 0,-27 5 0,32-10 0,0 1 0,0 0 0,0 0 0,1 0 0,-1 1 0,0 1 0,1 0 0,0 0 0,0 0 0,0 1 0,0 0 0,1 1 0,0-1 0,0 2 0,-9 9 0,-66 70 0,80-83 0,4-4 0,12-11 0,19-20 0,219-236 0,9-13 0,-238 256 0,-18 20 0,0 0 0,-1 0 0,1 0 0,-1 0 0,0-1 0,0 0 0,-1 0 0,0 0 0,0 0 0,0 0 0,2-11 0,-6 15 0,-5 8 0,-5 8 0,-73 91 0,-14 19 0,12 25 0,23-38 0,44-84 0,-1-1 0,-1-1 0,-32 29 0,-30 36 0,29-27 0,-61 56 0,98-103 0,5-2 0,12-14 0,0 0 0,0 0 0,0 0 0,0 0 0,0 0 0,0 0 0,0 0 0,0 0 0,1 0 0,-1 0 0,0 0 0,0 0 0,0 0 0,0 0 0,0 0 0,0 0 0,0 0 0,0 0 0,0 0 0,0 0 0,0 0 0,0 0 0,0 0 0,0 0 0,0 0 0,0 0 0,0 0 0,1 0 0,-1 0 0,0 0 0,0 0 0,0 0 0,0 0 0,0 0 0,0 0 0,0 1 0,0-1 0,0 0 0,0 0 0,0 0 0,0 0 0,0 0 0,0 0 0,0 0 0,0 0 0,0 0 0,0 0 0,0 0 0,24-22 0,159-197 0,-111 148 0,-49 51 0,-2-1 0,26-32 0,86-132 0,-132 181 0,-12 11 0,-17 17 0,-205 169 0,-41 36 0,211-167 0,41-38 0,-1-1 0,-1-1 0,-1-1 0,-1-1 0,-53 30 0,12-16 0,-101 69 0,110-56 0,41-32 0,-1-1 0,-30 19 0,32-24 0,1 1 0,-1-2 0,0 0 0,0 0 0,-1-2 0,-25 7 0,-9-3 0,-1-2 0,1-2 0,-66-2 0,71-6 0,23 1 0,0 0 0,0 2 0,0 1 0,0 0 0,-24 6 0,5 6 0,0 2 0,-38 21 0,52-23 0,14-9 0,1-1 0,-1 0 0,0-1 0,0-1 0,0 0 0,0 0 0,-22-2 0,20 0 0,0 1 0,0 0 0,0 1 0,0 1 0,-26 8 0,13-2 0,-1-2 0,1 0 0,-1-2 0,0-1 0,0-2 0,0 0 0,-36-4 0,55 1 0,0 1 0,0 1 0,-1 0 0,1 1 0,0 0 0,0 0 0,1 1 0,-19 8 0,23-8 0,1 0 0,0 0 0,1 0 0,-1 1 0,1-1 0,-1 1 0,1 0 0,0 1 0,0-1 0,1 1 0,-1 0 0,1 0 0,0 0 0,1 0 0,-1 0 0,1 0 0,0 1 0,-2 7 0,-3 10 0,3-11 0,1-1 0,0 0 0,1 1 0,0-1 0,0 16 0,2-24 0,0-1 0,0 0 0,0 1 0,1-1 0,-1 0 0,1 0 0,-1 1 0,1-1 0,0 0 0,0 0 0,0 0 0,0 0 0,0 0 0,1 0 0,-1 0 0,0 0 0,1-1 0,0 1 0,-1-1 0,1 1 0,0-1 0,0 1 0,0-1 0,0 0 0,0 0 0,0 0 0,0 0 0,0 0 0,0 0 0,1-1 0,-1 1 0,4 0 0,23 2 0,1-1 0,-1-1 0,50-5 0,3 0 0,-49 2 0,56-10 0,-56 6 0,57-2 0,-90 8 0,33 0 0,-1-1 0,1-2 0,45-9 0,74-16 0,-108 21 0,-31 6 0,-1-1 0,1 0 0,-1-1 0,1 0 0,-1-1 0,0-1 0,22-11 0,36-35-1365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6764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&amp; Resource Allocation Simulator </a:t>
            </a:r>
            <a:endParaRPr lang="en-US" sz="40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7755" y="2183044"/>
            <a:ext cx="7772400" cy="4038600"/>
          </a:xfrm>
        </p:spPr>
        <p:txBody>
          <a:bodyPr>
            <a:normAutofit fontScale="475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2420030779-DEEPAK</a:t>
            </a: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2420030788-DHANUSH</a:t>
            </a: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2420030278-MUKHESH</a:t>
            </a: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2420030768-NIKHIL REDDY</a:t>
            </a: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2420030247-SHRUTHIK REDDY</a:t>
            </a: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</a:t>
            </a:r>
            <a:r>
              <a:rPr lang="en-US" sz="36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: 11</a:t>
            </a: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 V.  Muniraju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007" y="560495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blue and yellow background&#10;&#10;AI-generated content may be incorrect.">
            <a:extLst>
              <a:ext uri="{FF2B5EF4-FFF2-40B4-BE49-F238E27FC236}">
                <a16:creationId xmlns:a16="http://schemas.microsoft.com/office/drawing/2014/main" id="{463FCF47-4922-6D50-D2A8-7194151998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2668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pic>
        <p:nvPicPr>
          <p:cNvPr id="5" name="Picture 4" descr="A red and black logo&#10;&#10;AI-generated content may be incorrect.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0164DC6-33D2-51B9-4BE9-BCD471CF1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344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3FE91E-DE15-512F-1B0E-67835FED3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1"/>
            <a:ext cx="86868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Modern operating systems run multiple processes at the same time while sharing limited resources. This can sometimes lead to deadlocks due to circular waiting.</a:t>
            </a:r>
          </a:p>
          <a:p>
            <a:pPr algn="just"/>
            <a:r>
              <a:rPr lang="en-US" sz="2400" dirty="0"/>
              <a:t>To understand this practically, a </a:t>
            </a:r>
            <a:r>
              <a:rPr lang="en-US" sz="2400" b="1" dirty="0"/>
              <a:t>Deadlock Simulator</a:t>
            </a:r>
            <a:r>
              <a:rPr lang="en-US" sz="2400" dirty="0"/>
              <a:t> is developed. It models how processes request and release resources, detects deadlocks, and identifies safe or unsafe states using Banker’s Algorithm.</a:t>
            </a:r>
          </a:p>
          <a:p>
            <a:pPr algn="just"/>
            <a:r>
              <a:rPr lang="en-US" sz="2400" dirty="0"/>
              <a:t>This helps in connecting theoretical concepts with practical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sz="37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7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24A231-FDF5-BDE1-866E-E259C250E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5454" y="591344"/>
            <a:ext cx="5389895" cy="5947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sz="2000" dirty="0"/>
              <a:t>Understanding deadlocks only through theory makes it difficult to clearly see how resource allocation leads to unsafe states. Hence, there is a need for a simple and practical tool to demonstrate how deadlocks occur and how they can be detected and prevented.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This project aims to design and implement a </a:t>
            </a:r>
            <a:r>
              <a:rPr lang="en-US" sz="2000" b="1" dirty="0"/>
              <a:t>console-based Deadlock Simulator and Predictor</a:t>
            </a:r>
            <a:r>
              <a:rPr lang="en-US" sz="2000" dirty="0"/>
              <a:t>. It simulates process–resource allocation using matrices, detects deadlocks using a detection algorithm, and predicts safe or unsafe states using </a:t>
            </a:r>
            <a:r>
              <a:rPr lang="en-US" sz="2000" b="1" dirty="0"/>
              <a:t>Banker’s Algorithm</a:t>
            </a:r>
            <a:r>
              <a:rPr lang="en-US" sz="2000" dirty="0"/>
              <a:t> in a Linux environment.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sz="31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1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A14E0F6C-32F7-32DF-2364-507D13466C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6315" y="732520"/>
            <a:ext cx="56889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Objectives: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Simulate process–resource allocation using allocation, request, and maximum matrices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Detect deadlocks using a deadlock detection algorithm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Predict safe and unsafe states using Banker’s Algorithm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Demonstrate circular wait and safe sequence in a Linux environment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 Deadlock is an important concept in operating systems, but it is often difficult to understand through theory alone.</a:t>
            </a: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This simulator provides a practical way to observe resource allocation, detect deadlocks, and analyze safe and unsafe states.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4A77CD-C74D-E23D-7BEF-A7558323E9F1}"/>
                  </a:ext>
                </a:extLst>
              </p14:cNvPr>
              <p14:cNvContentPartPr/>
              <p14:nvPr/>
            </p14:nvContentPartPr>
            <p14:xfrm>
              <a:off x="7126730" y="6449268"/>
              <a:ext cx="517320" cy="218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F4A77CD-C74D-E23D-7BEF-A7558323E9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20610" y="6443148"/>
                <a:ext cx="5295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5356DA9-764A-2A2B-20DA-76F4CDA30B69}"/>
                  </a:ext>
                </a:extLst>
              </p14:cNvPr>
              <p14:cNvContentPartPr/>
              <p14:nvPr/>
            </p14:nvContentPartPr>
            <p14:xfrm>
              <a:off x="7208450" y="5849868"/>
              <a:ext cx="1099800" cy="711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5356DA9-764A-2A2B-20DA-76F4CDA30B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5810" y="5786868"/>
                <a:ext cx="1225440" cy="83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C33F-CA40-579F-F153-A7F88CB5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Implementation and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2AFF-F2FB-3752-2635-8E3A1067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Case: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E5452-78CD-69FC-4823-672582D715BA}"/>
              </a:ext>
            </a:extLst>
          </p:cNvPr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 and Execution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4B3A-3092-5BFD-C811-72D209241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812"/>
            <a:ext cx="1295400" cy="68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A03C3-6881-21AC-6463-A33E56623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0" y="2133600"/>
            <a:ext cx="8330799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8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0312-29CE-1D4A-4D04-1B833AF0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4639"/>
            <a:ext cx="8229600" cy="5851526"/>
          </a:xfrm>
        </p:spPr>
        <p:txBody>
          <a:bodyPr/>
          <a:lstStyle/>
          <a:p>
            <a:r>
              <a:rPr lang="en-US" dirty="0"/>
              <a:t>Safe Case: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619039-20E7-64AC-9217-22DD31907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93" y="914400"/>
            <a:ext cx="7177614" cy="585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sz="37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7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5B240A-5E47-E32B-7039-51F6BD3DB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31679" y="1337439"/>
            <a:ext cx="577373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/>
              <a:t>The simulator was tested with multiple resource allocation scenarios</a:t>
            </a:r>
          </a:p>
          <a:p>
            <a:pPr algn="just"/>
            <a:r>
              <a:rPr lang="en-US" sz="2000" dirty="0"/>
              <a:t> In one case, a </a:t>
            </a:r>
            <a:r>
              <a:rPr lang="en-US" sz="2000" b="1" dirty="0"/>
              <a:t>circular wait condition</a:t>
            </a:r>
            <a:r>
              <a:rPr lang="en-US" sz="2000" dirty="0"/>
              <a:t> caused a deadlock, which was successfully detected</a:t>
            </a:r>
          </a:p>
          <a:p>
            <a:pPr algn="just"/>
            <a:r>
              <a:rPr lang="en-US" sz="2000" dirty="0"/>
              <a:t> Banker’s Algorithm identified the system as being in an </a:t>
            </a:r>
            <a:r>
              <a:rPr lang="en-US" sz="2000" b="1" dirty="0"/>
              <a:t>unsafe state</a:t>
            </a:r>
            <a:endParaRPr lang="en-US" sz="2000" dirty="0"/>
          </a:p>
          <a:p>
            <a:pPr algn="just"/>
            <a:r>
              <a:rPr lang="en-US" sz="2000" dirty="0"/>
              <a:t> In another case, a </a:t>
            </a:r>
            <a:r>
              <a:rPr lang="en-US" sz="2000" b="1" dirty="0"/>
              <a:t>safe sequence</a:t>
            </a:r>
            <a:r>
              <a:rPr lang="en-US" sz="2000" dirty="0"/>
              <a:t> was found despite limited resources</a:t>
            </a:r>
          </a:p>
          <a:p>
            <a:pPr algn="just"/>
            <a:r>
              <a:rPr lang="en-US" sz="2000" dirty="0"/>
              <a:t> The system was declared </a:t>
            </a:r>
            <a:r>
              <a:rPr lang="en-US" sz="2000" b="1" dirty="0"/>
              <a:t>stable</a:t>
            </a:r>
            <a:r>
              <a:rPr lang="en-US" sz="2000" dirty="0"/>
              <a:t> in the safe scenario</a:t>
            </a:r>
          </a:p>
          <a:p>
            <a:pPr algn="just"/>
            <a:r>
              <a:rPr lang="en-US" sz="2000" dirty="0"/>
              <a:t> These results confirm the effectiveness of both </a:t>
            </a:r>
            <a:r>
              <a:rPr lang="en-US" sz="2000" b="1" dirty="0"/>
              <a:t>deadlock detection and prediction mechanisms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35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60949" y="-5116"/>
            <a:ext cx="2488985" cy="2490264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1954321" cy="2252847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8CAF6D-1249-134C-A345-CF16BB5B3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console-based Deadlock Simulator and Predictor successfully demonstrates deadlock detection and safe state prediction using Banker’s Algorithm</a:t>
            </a:r>
            <a:br>
              <a:rPr lang="en-US" dirty="0"/>
            </a:br>
            <a:r>
              <a:rPr lang="en-US" dirty="0"/>
              <a:t>• It provides a clear practical understanding of resource allocation, circular wait conditions, and safe sequence computation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02" y="1396686"/>
            <a:ext cx="2594498" cy="406462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9218AA2-2E92-D06B-6290-A398F935B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1750" y="1784584"/>
            <a:ext cx="46926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• Abraham Silberschatz, Peter B. Galvin, Greg Gagne – </a:t>
            </a:r>
            <a:r>
              <a:rPr lang="en-IN" sz="2000" i="1" dirty="0"/>
              <a:t>Operating System Concepts</a:t>
            </a:r>
            <a:endParaRPr lang="en-IN" sz="2000" dirty="0"/>
          </a:p>
          <a:p>
            <a:r>
              <a:rPr lang="en-IN" sz="2000" dirty="0"/>
              <a:t>• Andrew S. Tanenbaum – </a:t>
            </a:r>
            <a:r>
              <a:rPr lang="en-IN" sz="2000" i="1" dirty="0"/>
              <a:t>Modern Operating Systems</a:t>
            </a:r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dirty="0" err="1"/>
              <a:t>GeeksforGeeks</a:t>
            </a:r>
            <a:r>
              <a:rPr lang="en-IN" sz="2000" dirty="0"/>
              <a:t> – Deadlock Detection and Banker’s Algorithm</a:t>
            </a:r>
          </a:p>
          <a:p>
            <a:r>
              <a:rPr lang="en-IN" sz="2000" dirty="0"/>
              <a:t>• Linux Manual Pages (man pages) for process and resource management</a:t>
            </a:r>
          </a:p>
          <a:p>
            <a:r>
              <a:rPr lang="en-IN" sz="2000" dirty="0"/>
              <a:t>• Lecture notes and course materials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3028950" y="1939159"/>
            <a:ext cx="5733470" cy="27510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  <a:endParaRPr lang="en-US" sz="6000" b="1" kern="1200" cap="none" spc="0">
              <a:ln w="13462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29afc8-b7ba-46b2-be2a-be790e93781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9A32DADC2E74DB20F7BF220550497" ma:contentTypeVersion="6" ma:contentTypeDescription="Create a new document." ma:contentTypeScope="" ma:versionID="3467d5d8b8a3a20876bec9b37f3db4b5">
  <xsd:schema xmlns:xsd="http://www.w3.org/2001/XMLSchema" xmlns:xs="http://www.w3.org/2001/XMLSchema" xmlns:p="http://schemas.microsoft.com/office/2006/metadata/properties" xmlns:ns3="1629afc8-b7ba-46b2-be2a-be790e937813" targetNamespace="http://schemas.microsoft.com/office/2006/metadata/properties" ma:root="true" ma:fieldsID="fb00e08be80f306a7f774e32b02d1e1b" ns3:_="">
    <xsd:import namespace="1629afc8-b7ba-46b2-be2a-be790e93781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9afc8-b7ba-46b2-be2a-be790e93781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58CCD3-B9F3-49C8-B321-5F54C9DBBC69}">
  <ds:schemaRefs>
    <ds:schemaRef ds:uri="http://schemas.microsoft.com/office/infopath/2007/PartnerControls"/>
    <ds:schemaRef ds:uri="http://schemas.microsoft.com/office/2006/metadata/properties"/>
    <ds:schemaRef ds:uri="1629afc8-b7ba-46b2-be2a-be790e937813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3ED92E2-5BA0-4580-902E-BD1DA8A86B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937B8B-7EF3-41AA-8E1B-9B494D642E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29afc8-b7ba-46b2-be2a-be790e9378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2122</TotalTime>
  <Words>514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A Project Review Meeting    on  Deadlock Detection &amp; Resource Allocation Simulator </vt:lpstr>
      <vt:lpstr>Outline of the Presentation</vt:lpstr>
      <vt:lpstr>Introduction</vt:lpstr>
      <vt:lpstr>Problem Statement </vt:lpstr>
      <vt:lpstr>Objectives with Justification </vt:lpstr>
      <vt:lpstr>Simple Implementation and Execution</vt:lpstr>
      <vt:lpstr>PowerPoint Presentation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Shruthik Reddy</cp:lastModifiedBy>
  <cp:revision>216</cp:revision>
  <dcterms:created xsi:type="dcterms:W3CDTF">2006-08-16T00:00:00Z</dcterms:created>
  <dcterms:modified xsi:type="dcterms:W3CDTF">2026-04-28T05:54:04Z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0x0101001049A32DADC2E74DB20F7BF220550497</vt:lpwstr>
  </property>
</Properties>
</file>